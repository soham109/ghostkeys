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r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C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5E5C59"/>
                </a:solidFill>
                <a:latin typeface="Fragment Mono"/>
              </a:rPr>
              <a:t>BADGER BUILDFEST 2026  ·  EMERGING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0">
                <a:solidFill>
                  <a:srgbClr val="F2F0EC"/>
                </a:solidFill>
                <a:latin typeface="Switzer Extralight"/>
              </a:rPr>
              <a:t>Ghostkeys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4924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i="1">
                <a:solidFill>
                  <a:srgbClr val="F2F0EC"/>
                </a:solidFill>
                <a:latin typeface="Switzer Light Italic"/>
              </a:rPr>
              <a:t>Every blank surface is a key.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000" decel="100000" fill="hold"/>
                                        <p:tgtEl>
                                          <p:spTgt spid="2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2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2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5E5C59"/>
                </a:solidFill>
                <a:latin typeface="Fragment Mono"/>
              </a:rPr>
              <a:t>01  · 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96012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>
                <a:solidFill>
                  <a:srgbClr val="F2F0EC"/>
                </a:solidFill>
                <a:latin typeface="Switzer Extralight"/>
              </a:rPr>
              <a:t>A MacBook is mostly </a:t>
            </a:r>
            <a:r>
              <a:rPr sz="7200" i="1">
                <a:solidFill>
                  <a:srgbClr val="F2F0EC"/>
                </a:solidFill>
                <a:latin typeface="Switzer Light Italic"/>
              </a:rPr>
              <a:t>dead space.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48056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>
                <a:solidFill>
                  <a:srgbClr val="9A9894"/>
                </a:solidFill>
                <a:latin typeface="Switzer Light"/>
              </a:rPr>
              <a:t>Palm rests. Speaker grilles. The strip above the keys.</a:t>
            </a:r>
          </a:p>
          <a:p>
            <a:pPr algn="l">
              <a:spcBef>
                <a:spcPts val="600"/>
              </a:spcBef>
            </a:pPr>
            <a:r>
              <a:rPr sz="2000">
                <a:solidFill>
                  <a:srgbClr val="9A9894"/>
                </a:solidFill>
                <a:latin typeface="Switzer Light"/>
              </a:rPr>
              <a:t>None of it does anything, while we spend the day hunting for shortcuts.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2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zones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0"/>
            <a:ext cx="109728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731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5E5C59"/>
                </a:solidFill>
                <a:latin typeface="Fragment Mono"/>
              </a:rPr>
              <a:t>02  ·  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4572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>
                <a:solidFill>
                  <a:srgbClr val="F2F0EC"/>
                </a:solidFill>
                <a:latin typeface="Switzer Extralight"/>
              </a:rPr>
              <a:t>Tap it. </a:t>
            </a:r>
            <a:r>
              <a:rPr sz="5400" i="1">
                <a:solidFill>
                  <a:srgbClr val="F2F0EC"/>
                </a:solidFill>
                <a:latin typeface="Switzer Light Italic"/>
              </a:rPr>
              <a:t>It runs.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3383280"/>
            <a:ext cx="3840480" cy="0"/>
          </a:xfrm>
          <a:prstGeom prst="line">
            <a:avLst/>
          </a:prstGeom>
          <a:ln w="9525">
            <a:solidFill>
              <a:srgbClr val="2A2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3547872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5E5C59"/>
                </a:solidFill>
                <a:latin typeface="Fragment Mono"/>
              </a:rPr>
              <a:t>LEFT PALM 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>
                <a:solidFill>
                  <a:srgbClr val="F2F0EC"/>
                </a:solidFill>
                <a:latin typeface="Switzer Light"/>
              </a:rPr>
              <a:t>Mute the call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4297680"/>
            <a:ext cx="3840480" cy="0"/>
          </a:xfrm>
          <a:prstGeom prst="line">
            <a:avLst/>
          </a:prstGeom>
          <a:ln w="9525">
            <a:solidFill>
              <a:srgbClr val="2A2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4462272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5E5C59"/>
                </a:solidFill>
                <a:latin typeface="Fragment Mono"/>
              </a:rPr>
              <a:t>RIGHT GRILLE, TWICE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0916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>
                <a:solidFill>
                  <a:srgbClr val="F2F0EC"/>
                </a:solidFill>
                <a:latin typeface="Switzer Light"/>
              </a:rPr>
              <a:t>Screenshot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5212080"/>
            <a:ext cx="3840480" cy="0"/>
          </a:xfrm>
          <a:prstGeom prst="line">
            <a:avLst/>
          </a:prstGeom>
          <a:ln w="9525">
            <a:solidFill>
              <a:srgbClr val="2A2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5376672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5E5C59"/>
                </a:solidFill>
                <a:latin typeface="Fragment Mono"/>
              </a:rPr>
              <a:t>TOP STRIP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2356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>
                <a:solidFill>
                  <a:srgbClr val="F2F0EC"/>
                </a:solidFill>
                <a:latin typeface="Switzer Light"/>
              </a:rPr>
              <a:t>Back to the last app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000" decel="100000" fill="hold"/>
                                        <p:tgtEl>
                                          <p:spTgt spid="2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2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60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600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6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5E5C59"/>
                </a:solidFill>
                <a:latin typeface="Fragment Mono"/>
              </a:rPr>
              <a:t>03  · 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>
                <a:solidFill>
                  <a:srgbClr val="F2F0EC"/>
                </a:solidFill>
                <a:latin typeface="Switzer Extralight"/>
              </a:rPr>
              <a:t>The sensor is already inside. </a:t>
            </a:r>
            <a:r>
              <a:rPr sz="4400" i="1">
                <a:solidFill>
                  <a:srgbClr val="F2F0EC"/>
                </a:solidFill>
                <a:latin typeface="Switzer Light Italic"/>
              </a:rPr>
              <a:t>We learned to read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324093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>
                <a:solidFill>
                  <a:srgbClr val="F2F0EC"/>
                </a:solidFill>
                <a:latin typeface="Switzer Extralight"/>
              </a:rPr>
              <a:t>800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26280"/>
            <a:ext cx="324093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5E5C59"/>
                </a:solidFill>
                <a:latin typeface="Fragment Mono"/>
              </a:rPr>
              <a:t>READINGS A SECOND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314949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>
                <a:solidFill>
                  <a:srgbClr val="9A9894"/>
                </a:solidFill>
                <a:latin typeface="Switzer Light"/>
              </a:rPr>
              <a:t>From the motion sensor in every Apple silicon MacBook. No admin rights, no new hardware.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38218" y="3291840"/>
            <a:ext cx="0" cy="2743200"/>
          </a:xfrm>
          <a:prstGeom prst="line">
            <a:avLst/>
          </a:prstGeom>
          <a:ln w="9525">
            <a:solidFill>
              <a:srgbClr val="2A2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658258" y="3200400"/>
            <a:ext cx="292089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>
                <a:solidFill>
                  <a:srgbClr val="F2F0EC"/>
                </a:solidFill>
                <a:latin typeface="Switzer Extralight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8258" y="4526280"/>
            <a:ext cx="292089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5E5C59"/>
                </a:solidFill>
                <a:latin typeface="Fragment Mono"/>
              </a:rPr>
              <a:t>MEASUREMENTS PER TAP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8258" y="4937760"/>
            <a:ext cx="282945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>
                <a:solidFill>
                  <a:srgbClr val="9A9894"/>
                </a:solidFill>
                <a:latin typeface="Switzer Light"/>
              </a:rPr>
              <a:t>Two models vote on which spot you touched, and refuse to guess when a tap looks unfamiliar.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53476" y="3291840"/>
            <a:ext cx="0" cy="2743200"/>
          </a:xfrm>
          <a:prstGeom prst="line">
            <a:avLst/>
          </a:prstGeom>
          <a:ln w="9525">
            <a:solidFill>
              <a:srgbClr val="2A2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73516" y="3200400"/>
            <a:ext cx="292089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>
                <a:solidFill>
                  <a:srgbClr val="F2F0EC"/>
                </a:solidFill>
                <a:latin typeface="Switzer Extralight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3516" y="4526280"/>
            <a:ext cx="292089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5E5C59"/>
                </a:solidFill>
                <a:latin typeface="Fragment Mono"/>
              </a:rPr>
              <a:t>BYTES LEAVE THE MAC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3516" y="4937760"/>
            <a:ext cx="282945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>
                <a:solidFill>
                  <a:srgbClr val="9A9894"/>
                </a:solidFill>
                <a:latin typeface="Switzer Light"/>
              </a:rPr>
              <a:t>Calibration, detection and learning all run on the laptop.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2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1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1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1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5E5C59"/>
                </a:solidFill>
                <a:latin typeface="Fragment Mono"/>
              </a:rPr>
              <a:t>04  ·  MEASURED, NOT PROMISED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737360"/>
            <a:ext cx="10545775" cy="0"/>
          </a:xfrm>
          <a:prstGeom prst="line">
            <a:avLst/>
          </a:prstGeom>
          <a:ln w="9525">
            <a:solidFill>
              <a:srgbClr val="2A2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22402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>
                <a:solidFill>
                  <a:srgbClr val="9A9894"/>
                </a:solidFill>
                <a:latin typeface="Switzer Light"/>
              </a:rPr>
              <a:t>Wrong or false taps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920240"/>
            <a:ext cx="2377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>
                <a:solidFill>
                  <a:srgbClr val="5E5C59"/>
                </a:solidFill>
                <a:latin typeface="Switzer Extralight"/>
              </a:rPr>
              <a:t>16.5%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920240"/>
            <a:ext cx="3474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>
                <a:solidFill>
                  <a:srgbClr val="5E5C59"/>
                </a:solidFill>
                <a:latin typeface="Switzer Extralight"/>
              </a:rPr>
              <a:t>→  </a:t>
            </a:r>
            <a:r>
              <a:rPr sz="5400">
                <a:solidFill>
                  <a:srgbClr val="F2F0EC"/>
                </a:solidFill>
                <a:latin typeface="Switzer Extralight"/>
              </a:rPr>
              <a:t>1.4%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" y="3063240"/>
            <a:ext cx="10545775" cy="0"/>
          </a:xfrm>
          <a:prstGeom prst="line">
            <a:avLst/>
          </a:prstGeom>
          <a:ln w="9525">
            <a:solidFill>
              <a:srgbClr val="2A2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" y="356616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>
                <a:solidFill>
                  <a:srgbClr val="9A9894"/>
                </a:solidFill>
                <a:latin typeface="Switzer Light"/>
              </a:rPr>
              <a:t>False taps while picking up the laptop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3246120"/>
            <a:ext cx="2377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>
                <a:solidFill>
                  <a:srgbClr val="5E5C59"/>
                </a:solidFill>
                <a:latin typeface="Switzer Extralight"/>
              </a:rPr>
              <a:t>2 /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3246120"/>
            <a:ext cx="3474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>
                <a:solidFill>
                  <a:srgbClr val="5E5C59"/>
                </a:solidFill>
                <a:latin typeface="Switzer Extralight"/>
              </a:rPr>
              <a:t>→  </a:t>
            </a:r>
            <a:r>
              <a:rPr sz="5400">
                <a:solidFill>
                  <a:srgbClr val="F2F0EC"/>
                </a:solidFill>
                <a:latin typeface="Switzer Extralight"/>
              </a:rPr>
              <a:t>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4389120"/>
            <a:ext cx="10545775" cy="0"/>
          </a:xfrm>
          <a:prstGeom prst="line">
            <a:avLst/>
          </a:prstGeom>
          <a:ln w="9525">
            <a:solidFill>
              <a:srgbClr val="2A2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489204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>
                <a:solidFill>
                  <a:srgbClr val="9A9894"/>
                </a:solidFill>
                <a:latin typeface="Switzer Light"/>
              </a:rPr>
              <a:t>Taps recognised on a lap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4572000"/>
            <a:ext cx="2377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>
                <a:solidFill>
                  <a:srgbClr val="5E5C59"/>
                </a:solidFill>
                <a:latin typeface="Switzer Extralight"/>
              </a:rPr>
              <a:t>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572000"/>
            <a:ext cx="3474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>
                <a:solidFill>
                  <a:srgbClr val="5E5C59"/>
                </a:solidFill>
                <a:latin typeface="Switzer Extralight"/>
              </a:rPr>
              <a:t>→  </a:t>
            </a:r>
            <a:r>
              <a:rPr sz="5400">
                <a:solidFill>
                  <a:srgbClr val="F2F0EC"/>
                </a:solidFill>
                <a:latin typeface="Switzer Extralight"/>
              </a:rPr>
              <a:t>84%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98932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>
                <a:solidFill>
                  <a:srgbClr val="5E5C59"/>
                </a:solidFill>
                <a:latin typeface="Switzer Light"/>
              </a:rPr>
              <a:t>On our own recordings. Every number re-run by an independent reviewer who did not write the code.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00" decel="100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1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70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1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1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ir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C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5E5C59"/>
                </a:solidFill>
                <a:latin typeface="Fragment Mono"/>
              </a:rPr>
              <a:t>05  ·  BEYOND TAPS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>
                <a:solidFill>
                  <a:srgbClr val="F2F0EC"/>
                </a:solidFill>
                <a:latin typeface="Switzer Extralight"/>
              </a:rPr>
              <a:t>Hands in the air. </a:t>
            </a:r>
            <a:r>
              <a:rPr sz="5600" i="1">
                <a:solidFill>
                  <a:srgbClr val="F2F0EC"/>
                </a:solidFill>
                <a:latin typeface="Switzer Light Italic"/>
              </a:rPr>
              <a:t>No camera.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9A9894"/>
                </a:solidFill>
                <a:latin typeface="Switzer Light"/>
              </a:rPr>
              <a:t>The speakers play two tones too high to hear. The mic listens to how your hand bends them.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000" decel="100000" fill="hold"/>
                                        <p:tgtEl>
                                          <p:spTgt spid="2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2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5E5C59"/>
                </a:solidFill>
                <a:latin typeface="Fragment Mono"/>
              </a:rPr>
              <a:t>06  ·  THE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40233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>
                <a:solidFill>
                  <a:srgbClr val="F2F0EC"/>
                </a:solidFill>
                <a:latin typeface="Switzer Extralight"/>
              </a:rPr>
              <a:t>Calibrates in a minute.</a:t>
            </a:r>
          </a:p>
          <a:p>
            <a:pPr algn="l">
              <a:lnSpc>
                <a:spcPct val="110000"/>
              </a:lnSpc>
            </a:pPr>
            <a:r>
              <a:rPr sz="3000" i="1">
                <a:solidFill>
                  <a:srgbClr val="F2F0EC"/>
                </a:solidFill>
                <a:latin typeface="Switzer Light Italic"/>
              </a:rPr>
              <a:t>Explains every miss.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40233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>
                <a:solidFill>
                  <a:srgbClr val="9A9894"/>
                </a:solidFill>
                <a:latin typeface="Switzer Light"/>
              </a:rPr>
              <a:t>A live view of every tap and where it was felt.</a:t>
            </a:r>
          </a:p>
          <a:p>
            <a:pPr algn="l">
              <a:spcBef>
                <a:spcPts val="1000"/>
              </a:spcBef>
            </a:pPr>
            <a:r>
              <a:rPr sz="1600">
                <a:solidFill>
                  <a:srgbClr val="9A9894"/>
                </a:solidFill>
                <a:latin typeface="Switzer Light"/>
              </a:rPr>
              <a:t>A tester that shows what fired and why.</a:t>
            </a:r>
          </a:p>
          <a:p>
            <a:pPr algn="l">
              <a:spcBef>
                <a:spcPts val="1000"/>
              </a:spcBef>
            </a:pPr>
            <a:r>
              <a:rPr sz="1600">
                <a:solidFill>
                  <a:srgbClr val="9A9894"/>
                </a:solidFill>
                <a:latin typeface="Switzer Light"/>
              </a:rPr>
              <a:t>Per-app layouts for Excel, Figma, Zoom.</a:t>
            </a:r>
          </a:p>
        </p:txBody>
      </p:sp>
      <p:pic>
        <p:nvPicPr>
          <p:cNvPr id="5" name="Picture 4" descr="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234440"/>
            <a:ext cx="6309360" cy="4070555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2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4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5E5C59"/>
                </a:solidFill>
                <a:latin typeface="Fragment Mono"/>
              </a:rPr>
              <a:t>07  ·  WHO PAYS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>
                <a:solidFill>
                  <a:srgbClr val="F2F0EC"/>
                </a:solidFill>
                <a:latin typeface="Switzer Extralight"/>
              </a:rPr>
              <a:t>People who live on their laptop </a:t>
            </a:r>
            <a:r>
              <a:rPr sz="4000" i="1">
                <a:solidFill>
                  <a:srgbClr val="F2F0EC"/>
                </a:solidFill>
                <a:latin typeface="Switzer Light Italic"/>
              </a:rPr>
              <a:t>and hate reaching for shortcuts.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3291840"/>
            <a:ext cx="2362123" cy="0"/>
          </a:xfrm>
          <a:prstGeom prst="line">
            <a:avLst/>
          </a:prstGeom>
          <a:ln w="9525">
            <a:solidFill>
              <a:srgbClr val="2A2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3474720"/>
            <a:ext cx="23621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>
                <a:solidFill>
                  <a:srgbClr val="F2F0EC"/>
                </a:solidFill>
                <a:latin typeface="Switzer Light"/>
              </a:rPr>
              <a:t>Analysts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227068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>
                <a:solidFill>
                  <a:srgbClr val="9A9894"/>
                </a:solidFill>
                <a:latin typeface="Switzer Light"/>
              </a:rPr>
              <a:t>Excel all day. Macros on a palm rest.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59403" y="3291840"/>
            <a:ext cx="2362123" cy="0"/>
          </a:xfrm>
          <a:prstGeom prst="line">
            <a:avLst/>
          </a:prstGeom>
          <a:ln w="9525">
            <a:solidFill>
              <a:srgbClr val="2A2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59403" y="3474720"/>
            <a:ext cx="23621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>
                <a:solidFill>
                  <a:srgbClr val="F2F0EC"/>
                </a:solidFill>
                <a:latin typeface="Switzer Light"/>
              </a:rPr>
              <a:t>Designers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9403" y="3977639"/>
            <a:ext cx="227068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>
                <a:solidFill>
                  <a:srgbClr val="9A9894"/>
                </a:solidFill>
                <a:latin typeface="Switzer Light"/>
              </a:rPr>
              <a:t>Tools and undo without leaving the canvas.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5847" y="3291840"/>
            <a:ext cx="2362123" cy="0"/>
          </a:xfrm>
          <a:prstGeom prst="line">
            <a:avLst/>
          </a:prstGeom>
          <a:ln w="9525">
            <a:solidFill>
              <a:srgbClr val="2A2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95847" y="3474720"/>
            <a:ext cx="23621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>
                <a:solidFill>
                  <a:srgbClr val="F2F0EC"/>
                </a:solidFill>
                <a:latin typeface="Switzer Light"/>
              </a:rPr>
              <a:t>Developers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7" y="3977639"/>
            <a:ext cx="227068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>
                <a:solidFill>
                  <a:srgbClr val="9A9894"/>
                </a:solidFill>
                <a:latin typeface="Switzer Light"/>
              </a:rPr>
              <a:t>Build, run and switch without a chord.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32291" y="3291840"/>
            <a:ext cx="2362123" cy="0"/>
          </a:xfrm>
          <a:prstGeom prst="line">
            <a:avLst/>
          </a:prstGeom>
          <a:ln w="9525">
            <a:solidFill>
              <a:srgbClr val="2A2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32291" y="3474720"/>
            <a:ext cx="23621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>
                <a:solidFill>
                  <a:srgbClr val="F2F0EC"/>
                </a:solidFill>
                <a:latin typeface="Switzer Light"/>
              </a:rPr>
              <a:t>Anyone on calls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291" y="3977639"/>
            <a:ext cx="227068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>
                <a:solidFill>
                  <a:srgbClr val="9A9894"/>
                </a:solidFill>
                <a:latin typeface="Switzer Light"/>
              </a:rPr>
              <a:t>Mute on a tap they can find blind.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9496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>
                <a:solidFill>
                  <a:srgbClr val="5E5C59"/>
                </a:solidFill>
                <a:latin typeface="Fragment Mono"/>
              </a:rPr>
              <a:t>Signal  </a:t>
            </a:r>
            <a:r>
              <a:rPr sz="1500">
                <a:solidFill>
                  <a:srgbClr val="9A9894"/>
                </a:solidFill>
                <a:latin typeface="Switzer Light"/>
              </a:rPr>
              <a:t>Mac users already pay for input tools like BetterTouchTool and Raycast. Every Apple silicon MacBook already has the sensor.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2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600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60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600" decel="10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600" decel="100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5E5C59"/>
                </a:solidFill>
                <a:latin typeface="Fragment Mono"/>
              </a:rPr>
              <a:t>08  ·  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>
                <a:solidFill>
                  <a:srgbClr val="F2F0EC"/>
                </a:solidFill>
                <a:latin typeface="Switzer Extralight"/>
              </a:rPr>
              <a:t>Free to try. </a:t>
            </a:r>
            <a:r>
              <a:rPr sz="4400" i="1">
                <a:solidFill>
                  <a:srgbClr val="F2F0EC"/>
                </a:solidFill>
                <a:latin typeface="Switzer Light Italic"/>
              </a:rPr>
              <a:t>Pay once to keep going.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3017520"/>
            <a:ext cx="3149498" cy="0"/>
          </a:xfrm>
          <a:prstGeom prst="line">
            <a:avLst/>
          </a:prstGeom>
          <a:ln w="9525">
            <a:solidFill>
              <a:srgbClr val="2A2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3200400"/>
            <a:ext cx="351525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5E5C59"/>
                </a:solidFill>
                <a:latin typeface="Fragment Mono"/>
              </a:rPr>
              <a:t>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351525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>
                <a:solidFill>
                  <a:srgbClr val="F2F0EC"/>
                </a:solidFill>
                <a:latin typeface="Switzer Extralight"/>
              </a:rPr>
              <a:t>$0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63440"/>
            <a:ext cx="35152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>
                <a:solidFill>
                  <a:srgbClr val="9A9894"/>
                </a:solidFill>
                <a:latin typeface="Switzer Light"/>
              </a:rPr>
              <a:t>Forever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305805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>
                <a:solidFill>
                  <a:srgbClr val="9A9894"/>
                </a:solidFill>
                <a:latin typeface="Switzer Light"/>
              </a:rPr>
              <a:t>Two hidden buttons on your palm rests.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38218" y="3017520"/>
            <a:ext cx="3149498" cy="0"/>
          </a:xfrm>
          <a:prstGeom prst="line">
            <a:avLst/>
          </a:prstGeom>
          <a:ln w="9525">
            <a:solidFill>
              <a:srgbClr val="2A2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38218" y="3200400"/>
            <a:ext cx="351525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5E5C59"/>
                </a:solidFill>
                <a:latin typeface="Fragment Mono"/>
              </a:rPr>
              <a:t>PRO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8218" y="3520440"/>
            <a:ext cx="351525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>
                <a:solidFill>
                  <a:srgbClr val="F2F0EC"/>
                </a:solidFill>
                <a:latin typeface="Switzer Extralight"/>
              </a:rPr>
              <a:t>$29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8218" y="4663440"/>
            <a:ext cx="35152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>
                <a:solidFill>
                  <a:srgbClr val="9A9894"/>
                </a:solidFill>
                <a:latin typeface="Switzer Light"/>
              </a:rPr>
              <a:t>Once  ·  $19 at launch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8218" y="5074920"/>
            <a:ext cx="305805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>
                <a:solidFill>
                  <a:srgbClr val="9A9894"/>
                </a:solidFill>
                <a:latin typeface="Switzer Light"/>
              </a:rPr>
              <a:t>Every surface, every gesture, every action.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53476" y="3017520"/>
            <a:ext cx="3149498" cy="0"/>
          </a:xfrm>
          <a:prstGeom prst="line">
            <a:avLst/>
          </a:prstGeom>
          <a:ln w="9525">
            <a:solidFill>
              <a:srgbClr val="2A2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853476" y="3200400"/>
            <a:ext cx="351525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5E5C59"/>
                </a:solidFill>
                <a:latin typeface="Fragment Mono"/>
              </a:rPr>
              <a:t>TEAMS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53476" y="3520440"/>
            <a:ext cx="351525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>
                <a:solidFill>
                  <a:srgbClr val="F2F0EC"/>
                </a:solidFill>
                <a:latin typeface="Switzer Extralight"/>
              </a:rPr>
              <a:t>$49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53476" y="4663440"/>
            <a:ext cx="35152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>
                <a:solidFill>
                  <a:srgbClr val="9A9894"/>
                </a:solidFill>
                <a:latin typeface="Switzer Light"/>
              </a:rPr>
              <a:t>Per seat, per 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53476" y="5074920"/>
            <a:ext cx="305805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>
                <a:solidFill>
                  <a:srgbClr val="9A9894"/>
                </a:solidFill>
                <a:latin typeface="Switzer Light"/>
              </a:rPr>
              <a:t>Pro for the whole desk, managed by IT. From 3 seats.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2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600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1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600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1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600" decel="10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1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5E5C59"/>
                </a:solidFill>
                <a:latin typeface="Fragment Mono"/>
              </a:rPr>
              <a:t>09  ·  WHY THIS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>
                <a:solidFill>
                  <a:srgbClr val="F2F0EC"/>
                </a:solidFill>
                <a:latin typeface="Switzer Extralight"/>
              </a:rPr>
              <a:t>No hardware. No camera. </a:t>
            </a:r>
            <a:r>
              <a:rPr sz="5200" i="1">
                <a:solidFill>
                  <a:srgbClr val="F2F0EC"/>
                </a:solidFill>
                <a:latin typeface="Switzer Light Italic"/>
              </a:rPr>
              <a:t>No cloud.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3017520"/>
            <a:ext cx="10545775" cy="0"/>
          </a:xfrm>
          <a:prstGeom prst="line">
            <a:avLst/>
          </a:prstGeom>
          <a:ln w="9525">
            <a:solidFill>
              <a:srgbClr val="2A2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324612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>
                <a:solidFill>
                  <a:srgbClr val="F2F0EC"/>
                </a:solidFill>
                <a:latin typeface="Switzer Light"/>
              </a:rPr>
              <a:t>The Touch Bar is gone.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3264408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>
                <a:solidFill>
                  <a:srgbClr val="9A9894"/>
                </a:solidFill>
                <a:latin typeface="Switzer Light"/>
              </a:rPr>
              <a:t>Apple removed the one extra input strip MacBooks had. The space is still there.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" y="4023360"/>
            <a:ext cx="10545775" cy="0"/>
          </a:xfrm>
          <a:prstGeom prst="line">
            <a:avLst/>
          </a:prstGeom>
          <a:ln w="9525">
            <a:solidFill>
              <a:srgbClr val="2A2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" y="425196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>
                <a:solidFill>
                  <a:srgbClr val="F2F0EC"/>
                </a:solidFill>
                <a:latin typeface="Switzer Light"/>
              </a:rPr>
              <a:t>Macro pads cost money and desk space.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4270248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>
                <a:solidFill>
                  <a:srgbClr val="9A9894"/>
                </a:solidFill>
                <a:latin typeface="Switzer Light"/>
              </a:rPr>
              <a:t>Ghostkeys uses the laptop you already carry, on a train or a couch.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5029200"/>
            <a:ext cx="10545775" cy="0"/>
          </a:xfrm>
          <a:prstGeom prst="line">
            <a:avLst/>
          </a:prstGeom>
          <a:ln w="9525">
            <a:solidFill>
              <a:srgbClr val="2A2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525780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>
                <a:solidFill>
                  <a:srgbClr val="F2F0EC"/>
                </a:solidFill>
                <a:latin typeface="Switzer Light"/>
              </a:rPr>
              <a:t>Trackpad gestures are full.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5276088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>
                <a:solidFill>
                  <a:srgbClr val="9A9894"/>
                </a:solidFill>
                <a:latin typeface="Switzer Light"/>
              </a:rPr>
              <a:t>Every swipe is taken. The rest of the chassis is not.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2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700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70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700" decel="10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5E5C59"/>
                </a:solidFill>
                <a:latin typeface="Fragment Mono"/>
              </a:rPr>
              <a:t>10  ·  NEXT 3 TO 6 MONTHS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737360"/>
            <a:ext cx="10545775" cy="0"/>
          </a:xfrm>
          <a:prstGeom prst="line">
            <a:avLst/>
          </a:prstGeom>
          <a:ln w="9525">
            <a:solidFill>
              <a:srgbClr val="2A2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20299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5E5C59"/>
                </a:solidFill>
                <a:latin typeface="Fragment Mono"/>
              </a:rPr>
              <a:t>MONTH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920240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>
                <a:solidFill>
                  <a:srgbClr val="F2F0EC"/>
                </a:solidFill>
                <a:latin typeface="Switzer Extralight"/>
              </a:rPr>
              <a:t>Signed public beta from the waitlist.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9525">
            <a:solidFill>
              <a:srgbClr val="2A2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308152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5E5C59"/>
                </a:solidFill>
                <a:latin typeface="Fragment Mono"/>
              </a:rPr>
              <a:t>MONTH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971800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>
                <a:solidFill>
                  <a:srgbClr val="F2F0EC"/>
                </a:solidFill>
                <a:latin typeface="Switzer Extralight"/>
              </a:rPr>
              <a:t>Sonar at everyday volume. Swipes in the air.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3840480"/>
            <a:ext cx="10545775" cy="0"/>
          </a:xfrm>
          <a:prstGeom prst="line">
            <a:avLst/>
          </a:prstGeom>
          <a:ln w="9525">
            <a:solidFill>
              <a:srgbClr val="2A2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413308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5E5C59"/>
                </a:solidFill>
                <a:latin typeface="Fragment Mono"/>
              </a:rPr>
              <a:t>MONTH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4023360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>
                <a:solidFill>
                  <a:srgbClr val="F2F0EC"/>
                </a:solidFill>
                <a:latin typeface="Switzer Extralight"/>
              </a:rPr>
              <a:t>Learning from use, proven not to learn the wrong tap.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4892040"/>
            <a:ext cx="10545775" cy="0"/>
          </a:xfrm>
          <a:prstGeom prst="line">
            <a:avLst/>
          </a:prstGeom>
          <a:ln w="9525">
            <a:solidFill>
              <a:srgbClr val="2A29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518464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5E5C59"/>
                </a:solidFill>
                <a:latin typeface="Fragment Mono"/>
              </a:rPr>
              <a:t>MONTHS 4 TO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5074920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>
                <a:solidFill>
                  <a:srgbClr val="F2F0EC"/>
                </a:solidFill>
                <a:latin typeface="Switzer Extralight"/>
              </a:rPr>
              <a:t>Windows release. Team layouts. First paying teams.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00" decel="100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00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700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700" decel="10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y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C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0">
                <a:solidFill>
                  <a:srgbClr val="F2F0EC"/>
                </a:solidFill>
                <a:latin typeface="Switzer Extralight"/>
              </a:rPr>
              <a:t>Ghostkeys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i="1">
                <a:solidFill>
                  <a:srgbClr val="F2F0EC"/>
                </a:solidFill>
                <a:latin typeface="Switzer Light Italic"/>
              </a:rPr>
              <a:t>Try it on the laptop in front of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9A9894"/>
                </a:solidFill>
                <a:latin typeface="Fragment Mono"/>
              </a:rPr>
              <a:t>GHOSTKEYS-NINE.VERCEL.APP      GITHUB.COM/SOHAM109/GHOSTKEYS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000" decel="100000" fill="hold"/>
                                        <p:tgtEl>
                                          <p:spTgt spid="2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3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2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